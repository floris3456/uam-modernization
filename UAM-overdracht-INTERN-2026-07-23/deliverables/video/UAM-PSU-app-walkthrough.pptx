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6" d="100"/>
          <a:sy n="36" d="100"/>
        </p:scale>
        <p:origin x="10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8A384-ABD4-B396-995B-B47B5D190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6264D-17CD-B357-7CC5-88B5F308D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12EE3-D946-D415-DCFC-4EA44BC27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3402-32F4-6587-1B0B-CF900C19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CB732-1DFB-27A1-6884-3009F53A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9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4EA2-6D10-AA6E-8D0B-0C9C91F61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19E1-E440-C88A-AEA8-EAE67278C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7C793-B070-C04E-6A82-FD2E7777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8006B-7C52-CAE2-7F55-4A768F165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CC691-9761-4EB6-98A1-82B0C8B7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4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D03D-DAF8-3F30-EB3B-E03F9B58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28B9E-FF70-4EB4-1690-9201E8631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6BC58-D880-0021-F69E-94AECAB7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73A1A-9169-CA2C-10C2-F8333903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4321B-8041-E436-455F-EA1990C2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66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3ADA4-C0CD-C923-CEBE-3DDC1C8D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AA27A-8985-1454-89E3-7465C5C29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65281-135B-8507-B3BF-786E14FF3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40575-4F29-559A-C04B-7D14EC6C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7A904-B724-CD02-CD04-9CC568D4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F55F6-A10A-F243-E598-B17D3F0C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03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D71B-7273-AB7E-418A-BB39B814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617BD-0BAE-C726-565C-14BD6BA52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6B03F-EE57-82A2-5738-92D5FBC01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1E27E-0412-0637-2AD9-878DDBB16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33872-9FBB-30A4-F3F6-6675F8835E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80E43-4AE7-35BE-0AA7-AA909D05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BF2DB3-CE98-F1D4-89FF-59922297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8D1B45-1864-6847-7549-7BA7B253C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96FC-69DF-6021-871E-B6152D24C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B900D-5F57-71C5-E789-A510719EC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962DF7-65CD-8CCE-3127-67FD05DA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AF186-5EF5-12BE-DAE3-1CD09F22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1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46E40-997A-6DC0-7209-4AE472055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17F83-19DB-9413-61D5-D5C54673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B2A14-F5B8-7FD4-5EFF-EEB43E51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7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0ED2-5070-1002-22E8-09F03AB5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88FDC-4291-C7F7-ABCF-CBC78EE73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8ED90-CD88-587D-C606-040AF0780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36C49-37B1-5BD8-9940-391D274C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D54B4-A059-7A09-9443-7C03B3FA2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90971-BF48-DAF1-637E-A6CFE6F1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7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1974-76CC-702A-E812-B2EC0F02D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91FF4-24CB-69CA-F677-0B70C2F09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878CF-026B-5264-AA14-A66696CF6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C1533-B03F-DFBF-D003-F7D1DE00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FCA83-D07B-C419-7CD6-AEE363B2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4B518-A310-6E8C-D343-E5A3E573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06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C305-8A19-78A3-9850-8E9C44E9B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94B0F-280A-1BC0-E6CF-AC2F089E3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31A4A-2E66-E6FA-A5AB-A7E55E1E9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87075-4488-ABA2-4582-AF8F7A5C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DA3D-5A18-D4D0-5B6E-4D9D8DB6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1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0713B-B151-CB18-A758-BE8887DD0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06DAA-9CC8-0A00-A52A-72057FB4C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28E35-27CF-00F2-60E6-BA242C0A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60C62-A8B3-B1E8-B0BF-27F72264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EE210-3B08-4C55-F30F-16FA6E29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18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758CF-26C3-8FEC-5A2F-ABE4A48F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1BD7A-51E1-27AC-F6CB-BB133137C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6D5ED-7526-1EF2-C469-38431A144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A47CF-0A99-489C-A12D-2FC7C5D80C7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554C0-48EC-FA72-E790-999F19E1D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0B2B5-5FB4-485B-5D31-F03E7BBD3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D4350-AF7A-46D3-925C-6964CA5D9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5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419509-F545-6DC4-E8C7-3911970636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5FE62-1457-896C-45B4-2EDE3DBFE798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UAM PSU-app — DEV walkthrough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97EDD5-F631-D82E-53FD-4077C49CF261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3A0FDB-613F-8D3D-9D5F-B6DA0121B8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921456-5BC3-1BDA-3171-0923A4B4403C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7DE19-3BFE-24D9-B9B9-95000F79B8B3}"/>
              </a:ext>
            </a:extLst>
          </p:cNvPr>
          <p:cNvSpPr txBox="1"/>
          <p:nvPr/>
        </p:nvSpPr>
        <p:spPr>
          <a:xfrm>
            <a:off x="8966200" y="1371600"/>
            <a:ext cx="2794000" cy="83612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UAM PSU-app — DEV walkthrough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51284A-8703-C878-243B-19E5F7E76029}"/>
              </a:ext>
            </a:extLst>
          </p:cNvPr>
          <p:cNvSpPr txBox="1"/>
          <p:nvPr/>
        </p:nvSpPr>
        <p:spPr>
          <a:xfrm>
            <a:off x="8966200" y="2349500"/>
            <a:ext cx="2794000" cy="206723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Huidige UAM Activity Monitor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Read-only vastlegging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Privacygemaskeerde schermgegevens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Geen schrijf-, export- of uitvoeracties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51D3B8-896A-39E5-A807-A7E8CBC6F741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1/15</a:t>
            </a:r>
          </a:p>
        </p:txBody>
      </p:sp>
    </p:spTree>
    <p:extLst>
      <p:ext uri="{BB962C8B-B14F-4D97-AF65-F5344CB8AC3E}">
        <p14:creationId xmlns:p14="http://schemas.microsoft.com/office/powerpoint/2010/main" val="717174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B59456-455C-A2E2-A5A4-82D8C83DBB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39983A-C1ED-E1A3-51C6-14F10D7F2457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Veilige opnamewijze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D52F7B-E9B9-8B75-3C07-913CF6B8A389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E963B-DA32-E62A-AA94-E0833A9FB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CF0303-86A6-2D8F-3961-6E27C80831CA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611ADD-2547-E003-E439-5E2FDD905D54}"/>
              </a:ext>
            </a:extLst>
          </p:cNvPr>
          <p:cNvSpPr txBox="1"/>
          <p:nvPr/>
        </p:nvSpPr>
        <p:spPr>
          <a:xfrm>
            <a:off x="8966200" y="1371600"/>
            <a:ext cx="2794000" cy="83612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Veilige opnamewijze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6D4E9-39D1-5BCA-7C40-464620AEB9ED}"/>
              </a:ext>
            </a:extLst>
          </p:cNvPr>
          <p:cNvSpPr txBox="1"/>
          <p:nvPr/>
        </p:nvSpPr>
        <p:spPr>
          <a:xfrm>
            <a:off x="8966200" y="2349500"/>
            <a:ext cx="2794000" cy="2498120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Omgeving: lokale DEV-app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Alleen tabs, zoeken/filteren, sorteren en pagineren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Tabelrijen, invoerwaarden, canvas- en accountlabels gemaskeerd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PROD vereist nog een handmatige browserlogin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BDD86-A910-125E-D33C-E1A565A74313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2/15</a:t>
            </a:r>
          </a:p>
        </p:txBody>
      </p:sp>
    </p:spTree>
    <p:extLst>
      <p:ext uri="{BB962C8B-B14F-4D97-AF65-F5344CB8AC3E}">
        <p14:creationId xmlns:p14="http://schemas.microsoft.com/office/powerpoint/2010/main" val="3528987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295EE7-7D0F-4D24-9A03-3E22C84E6F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CE759-7796-9E0B-9481-27DDE2E1C696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Logging Users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981C5C-748C-5096-319D-52D3FE2F9249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F5C3B-F769-53D1-CFD9-883A2D635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2DEB39-4A63-1DF4-5DA5-DB8D66E70A57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5A48C-D719-951D-75A2-1CAE2C7B6123}"/>
              </a:ext>
            </a:extLst>
          </p:cNvPr>
          <p:cNvSpPr txBox="1"/>
          <p:nvPr/>
        </p:nvSpPr>
        <p:spPr>
          <a:xfrm>
            <a:off x="8966200" y="1371600"/>
            <a:ext cx="2794000" cy="48218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Logging Users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CE2353-E85C-E950-E898-406B01EF7721}"/>
              </a:ext>
            </a:extLst>
          </p:cNvPr>
          <p:cNvSpPr txBox="1"/>
          <p:nvPr/>
        </p:nvSpPr>
        <p:spPr>
          <a:xfrm>
            <a:off x="8966200" y="2349500"/>
            <a:ext cx="2794000" cy="2498120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Beheer van de populatie die voor logging in aanmerking komt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Status en selectie worden in gebruikers-/apparaatstate bijgehouden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Muterende knoppen zijn tijdens de documentatieronde niet bediend</a:t>
            </a:r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2285F-85B5-98B3-7D90-0DE9461E1A2E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3/15</a:t>
            </a:r>
          </a:p>
        </p:txBody>
      </p:sp>
    </p:spTree>
    <p:extLst>
      <p:ext uri="{BB962C8B-B14F-4D97-AF65-F5344CB8AC3E}">
        <p14:creationId xmlns:p14="http://schemas.microsoft.com/office/powerpoint/2010/main" val="28474971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26930E-A25A-0489-A996-1C9114AA6B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83875-CCC9-FCDE-E895-7612335FCEEE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Logging Users — read-only 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ECC03-9A21-2604-BDDD-58C24C3057C5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454BE-5E5A-66E2-1826-8CBECF2F8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743185-B7E8-9F42-ED0D-B0976A836718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C3DA0-1E90-B03B-6742-ABDB7452B217}"/>
              </a:ext>
            </a:extLst>
          </p:cNvPr>
          <p:cNvSpPr txBox="1"/>
          <p:nvPr/>
        </p:nvSpPr>
        <p:spPr>
          <a:xfrm>
            <a:off x="8966200" y="1371600"/>
            <a:ext cx="2794000" cy="83612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Logging Users — read-only filter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FD2184-C6F5-E4D4-7CEC-FCEC3E13A07A}"/>
              </a:ext>
            </a:extLst>
          </p:cNvPr>
          <p:cNvSpPr txBox="1"/>
          <p:nvPr/>
        </p:nvSpPr>
        <p:spPr>
          <a:xfrm>
            <a:off x="8966200" y="2349500"/>
            <a:ext cx="2794000" cy="1851789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Voorbeeld van een tijdelijke zoek-/filteractie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De testwaarde is na de opname weer verwijderd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Geen record is toegevoegd of gewijzigd</a:t>
            </a:r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4DA2CE-A6F4-48C8-6264-8A25B659ACD2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4/15</a:t>
            </a:r>
          </a:p>
        </p:txBody>
      </p:sp>
    </p:spTree>
    <p:extLst>
      <p:ext uri="{BB962C8B-B14F-4D97-AF65-F5344CB8AC3E}">
        <p14:creationId xmlns:p14="http://schemas.microsoft.com/office/powerpoint/2010/main" val="529598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6000"/>
    </mc:Choice>
    <mc:Fallback>
      <p:transition spd="slow" advClick="0" advTm="6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A309D0-1BF2-8B88-F3DB-68B5D07E1F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F1D73-CCFD-B60D-5635-74F07749F555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User Grids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16EAED-D098-F413-A77A-84F3C05E243B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8D229C-2903-C5BE-78CC-6178EE579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E06745-3EB5-90CA-A122-3C0C2BE22C3B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EE05E1-243C-022D-BFC5-2459B0A94C84}"/>
              </a:ext>
            </a:extLst>
          </p:cNvPr>
          <p:cNvSpPr txBox="1"/>
          <p:nvPr/>
        </p:nvSpPr>
        <p:spPr>
          <a:xfrm>
            <a:off x="8966200" y="1371600"/>
            <a:ext cx="2794000" cy="48218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User Grids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CE463-1578-9B6C-EEED-CD19F92CED4F}"/>
              </a:ext>
            </a:extLst>
          </p:cNvPr>
          <p:cNvSpPr txBox="1"/>
          <p:nvPr/>
        </p:nvSpPr>
        <p:spPr>
          <a:xfrm>
            <a:off x="8966200" y="2349500"/>
            <a:ext cx="2794000" cy="228267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Rasterweergave voor gebruikers- en apparaatselectie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Natuurlijke sleutels bestaan uit gebruikersnaam, domein en computer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Het doelmodel vraagt om stabiele identity keys en typed policies</a:t>
            </a:r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97D13-7830-D3A7-930F-9FFEBB122B5C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5/15</a:t>
            </a:r>
          </a:p>
        </p:txBody>
      </p:sp>
    </p:spTree>
    <p:extLst>
      <p:ext uri="{BB962C8B-B14F-4D97-AF65-F5344CB8AC3E}">
        <p14:creationId xmlns:p14="http://schemas.microsoft.com/office/powerpoint/2010/main" val="637145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0EB2E9-5DB5-1CBB-07D2-4312D1244B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73F76F-DF76-CDC9-6DE0-EF49B901651D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Organogram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B0E14B-C9AC-63B4-2B1F-110E82087914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29D531-1C45-8CCE-1370-6CBC025CB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7329F8-A73A-F074-433C-F0D00E3C1200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F4E4F-1A35-FF42-418D-57383E9CEDFF}"/>
              </a:ext>
            </a:extLst>
          </p:cNvPr>
          <p:cNvSpPr txBox="1"/>
          <p:nvPr/>
        </p:nvSpPr>
        <p:spPr>
          <a:xfrm>
            <a:off x="8966200" y="1371600"/>
            <a:ext cx="2794000" cy="48218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Organogram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11339-4112-ACC7-B630-CF6C95386B07}"/>
              </a:ext>
            </a:extLst>
          </p:cNvPr>
          <p:cNvSpPr txBox="1"/>
          <p:nvPr/>
        </p:nvSpPr>
        <p:spPr>
          <a:xfrm>
            <a:off x="8966200" y="2349500"/>
            <a:ext cx="2794000" cy="206723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Organisatiegerichte selectie vanuit HR-/AD-gegevens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Legacy gebruikt klantgebonden bronstructuren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Doel: smalle configureerbare HR-/AD-views met een versiecontract</a:t>
            </a:r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43E08-ADB6-E958-EA16-D5256795DDBD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6/15</a:t>
            </a:r>
          </a:p>
        </p:txBody>
      </p:sp>
    </p:spTree>
    <p:extLst>
      <p:ext uri="{BB962C8B-B14F-4D97-AF65-F5344CB8AC3E}">
        <p14:creationId xmlns:p14="http://schemas.microsoft.com/office/powerpoint/2010/main" val="2229220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61C353-4C96-DFB0-76C3-49C423FECB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81377-4560-4CB8-B8A1-9F836DD47BD9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Logging Data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1E1C10-0097-625B-1436-A21BED4D3476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7FA713-0A58-0E3D-38DB-3F2A00822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553FED-700E-904E-CD52-66253F7FC541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3EADE-19E8-7796-6AFC-B9A3CF394A9B}"/>
              </a:ext>
            </a:extLst>
          </p:cNvPr>
          <p:cNvSpPr txBox="1"/>
          <p:nvPr/>
        </p:nvSpPr>
        <p:spPr>
          <a:xfrm>
            <a:off x="8966200" y="1371600"/>
            <a:ext cx="2794000" cy="48218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Logging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6D3AE1-0C75-C2AB-F3B4-77D87EA97355}"/>
              </a:ext>
            </a:extLst>
          </p:cNvPr>
          <p:cNvSpPr txBox="1"/>
          <p:nvPr/>
        </p:nvSpPr>
        <p:spPr>
          <a:xfrm>
            <a:off x="8966200" y="2349500"/>
            <a:ext cx="2794000" cy="206723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Inzage in browser-, proces- en recente-itemlogging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Detailgegevens en minimal logging bestaan naast elkaar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Retentie, privacy en aggregatie moeten in het doelmodel expliciet worden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F4B8F-402C-5B7D-38E7-181E904DD9DB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7/15</a:t>
            </a:r>
          </a:p>
        </p:txBody>
      </p:sp>
    </p:spTree>
    <p:extLst>
      <p:ext uri="{BB962C8B-B14F-4D97-AF65-F5344CB8AC3E}">
        <p14:creationId xmlns:p14="http://schemas.microsoft.com/office/powerpoint/2010/main" val="2170826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9943DD-86C7-ADF9-62A2-11746AEFC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3854F-121C-86E9-3195-7330D43EB8C3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Device Scripts &amp; Schedules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AF409F-AC19-BA09-4AC2-83EC244E575F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3423A-79B7-D39B-9F81-9505300B2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0E40DB-1E06-D598-9767-C1FB84E349F9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FA4088-D482-8E45-5408-539F835B57FB}"/>
              </a:ext>
            </a:extLst>
          </p:cNvPr>
          <p:cNvSpPr txBox="1"/>
          <p:nvPr/>
        </p:nvSpPr>
        <p:spPr>
          <a:xfrm>
            <a:off x="8966200" y="1371600"/>
            <a:ext cx="2794000" cy="83612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Device Scripts &amp; Schedules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565A5-E09A-CE0B-65EF-5477AB2AEDDC}"/>
              </a:ext>
            </a:extLst>
          </p:cNvPr>
          <p:cNvSpPr txBox="1"/>
          <p:nvPr/>
        </p:nvSpPr>
        <p:spPr>
          <a:xfrm>
            <a:off x="8966200" y="2349500"/>
            <a:ext cx="2794000" cy="228267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Beheergebied voor device types, scripts, planningen en referentiedata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Het legacy taakmodel is slechts gedeeltelijk uitgewerkt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Doel: alle collectors als getekende, versieerbare tasks met timeouts en isolatie</a:t>
            </a:r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C8C5E5-CD44-BD34-990E-8B1496A8A9AE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8/15</a:t>
            </a:r>
          </a:p>
        </p:txBody>
      </p:sp>
    </p:spTree>
    <p:extLst>
      <p:ext uri="{BB962C8B-B14F-4D97-AF65-F5344CB8AC3E}">
        <p14:creationId xmlns:p14="http://schemas.microsoft.com/office/powerpoint/2010/main" val="2645424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8000"/>
    </mc:Choice>
    <mc:Fallback>
      <p:transition spd="slow" advClick="0" advTm="8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983D18-CF2E-3018-3AB8-19322F9064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82BF56-B2D9-5ABB-D832-4DE004F94FA0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UAM Settings — Global Settings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960E0B-0716-AA23-8B64-8A96B9934618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497C66-4316-B7DC-5794-9B5A366DC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85FBD9-4BFA-1099-5D06-F9AEF84975FE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CF7A5-57CD-5342-2A3F-2BAB02C8E36C}"/>
              </a:ext>
            </a:extLst>
          </p:cNvPr>
          <p:cNvSpPr txBox="1"/>
          <p:nvPr/>
        </p:nvSpPr>
        <p:spPr>
          <a:xfrm>
            <a:off x="8966200" y="1371600"/>
            <a:ext cx="2794000" cy="83612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UAM Settings — Global Settings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67361-0146-83E8-66B4-15E088BEF909}"/>
              </a:ext>
            </a:extLst>
          </p:cNvPr>
          <p:cNvSpPr txBox="1"/>
          <p:nvPr/>
        </p:nvSpPr>
        <p:spPr>
          <a:xfrm>
            <a:off x="8966200" y="2349500"/>
            <a:ext cx="2794000" cy="228267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Globale runtime-instellingen voor de agent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Legacywaarden zijn grotendeels tekstueel en worden bij start geladen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Doel: typed, versioned policy plus lokaal gevalideerd SQLite-snapshot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5E544A-C2B0-C541-E25B-FED48ABCFDBB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9/15</a:t>
            </a:r>
          </a:p>
        </p:txBody>
      </p:sp>
    </p:spTree>
    <p:extLst>
      <p:ext uri="{BB962C8B-B14F-4D97-AF65-F5344CB8AC3E}">
        <p14:creationId xmlns:p14="http://schemas.microsoft.com/office/powerpoint/2010/main" val="3770265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2865B0-315C-2DBB-1E47-D2D2B95AEB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2983C-42AA-7CA6-4E13-06D7085F64B1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Process Exclusions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C97B1B-035B-E9EA-B515-43F0DE8AB4A0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CC381-7490-0E01-5E78-A65D2BBE1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6AF3FA-FBBB-C2D0-F3D0-AC861446DF29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DB734-11F5-8779-4D29-DAC0E2E77A87}"/>
              </a:ext>
            </a:extLst>
          </p:cNvPr>
          <p:cNvSpPr txBox="1"/>
          <p:nvPr/>
        </p:nvSpPr>
        <p:spPr>
          <a:xfrm>
            <a:off x="8966200" y="1371600"/>
            <a:ext cx="2794000" cy="48218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Process Exclusions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8B255-69A3-0A64-C497-0C1B1E87F353}"/>
              </a:ext>
            </a:extLst>
          </p:cNvPr>
          <p:cNvSpPr txBox="1"/>
          <p:nvPr/>
        </p:nvSpPr>
        <p:spPr>
          <a:xfrm>
            <a:off x="8966200" y="2349500"/>
            <a:ext cx="2794000" cy="206723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Legacy denylist voor processen en paden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Nieuwe richting: procesallowlist met pad, publisher en applicatiesleutel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Dataminimalisatie gebeurt vóór buffering en transport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319EAC-D895-4350-185F-EF133ED4F9BE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10/15</a:t>
            </a:r>
          </a:p>
        </p:txBody>
      </p:sp>
    </p:spTree>
    <p:extLst>
      <p:ext uri="{BB962C8B-B14F-4D97-AF65-F5344CB8AC3E}">
        <p14:creationId xmlns:p14="http://schemas.microsoft.com/office/powerpoint/2010/main" val="1435306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8BEE7D-7539-BDA6-998B-DDB61BBDFE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FAA2D-2949-3272-A07E-3502E72ABF21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Browser Logging Exclusions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8C8B32-3FFA-5CF1-3FE1-225AB10DB200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B3AF8D-8B91-E671-2557-BE93AC056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8CD473-C197-B790-318E-6557CA452193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37760-B9DC-CF47-521F-302DCF8B6D14}"/>
              </a:ext>
            </a:extLst>
          </p:cNvPr>
          <p:cNvSpPr txBox="1"/>
          <p:nvPr/>
        </p:nvSpPr>
        <p:spPr>
          <a:xfrm>
            <a:off x="8966200" y="1371600"/>
            <a:ext cx="2794000" cy="83612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Browser Logging Exclusions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E0AE93-574E-AEE9-E1FB-ECDD7E248531}"/>
              </a:ext>
            </a:extLst>
          </p:cNvPr>
          <p:cNvSpPr txBox="1"/>
          <p:nvPr/>
        </p:nvSpPr>
        <p:spPr>
          <a:xfrm>
            <a:off x="8966200" y="2349500"/>
            <a:ext cx="2794000" cy="206723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Legacy uitsluitingen voor browserlogging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Brede URL-verzameling levert te veel data op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Nieuwe richting: URL-allowlist direct gekoppeld aan Application Registry/CMDB</a:t>
            </a:r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7A255-2BF7-04C1-DDC9-2ADE4C3C773E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11/15</a:t>
            </a:r>
          </a:p>
        </p:txBody>
      </p:sp>
    </p:spTree>
    <p:extLst>
      <p:ext uri="{BB962C8B-B14F-4D97-AF65-F5344CB8AC3E}">
        <p14:creationId xmlns:p14="http://schemas.microsoft.com/office/powerpoint/2010/main" val="2885582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7EEC9D-EED6-F287-2F73-CAADA9B466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0EDE6B-7CFB-3DCD-5663-99C84876726F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Application Matches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DD390F-552A-C971-C6F9-C0E7287E3374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76086-AA76-FFFE-50DC-4F24DD2E7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77A9A3-23EB-8578-13A5-E6959E2B6AF0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37C514-774D-3235-04C9-AAA44812A2F2}"/>
              </a:ext>
            </a:extLst>
          </p:cNvPr>
          <p:cNvSpPr txBox="1"/>
          <p:nvPr/>
        </p:nvSpPr>
        <p:spPr>
          <a:xfrm>
            <a:off x="8966200" y="1371600"/>
            <a:ext cx="2794000" cy="83612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Application Matches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06DF29-BD9D-564F-4E0E-86F52E313D0A}"/>
              </a:ext>
            </a:extLst>
          </p:cNvPr>
          <p:cNvSpPr txBox="1"/>
          <p:nvPr/>
        </p:nvSpPr>
        <p:spPr>
          <a:xfrm>
            <a:off x="8966200" y="2349500"/>
            <a:ext cx="2794000" cy="228267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Domein- en procesexpressies worden aan een applicatie-ID gekoppeld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De huidige koppeling is tekstueel en heeft geen fysieke FK</a:t>
            </a:r>
          </a:p>
          <a:p>
            <a:endParaRPr lang="nl-NL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nl-NL" sz="1400">
                <a:solidFill>
                  <a:srgbClr val="E2E8F0"/>
                </a:solidFill>
                <a:latin typeface="Segoe UI" panose="020B0502040204020203" pitchFamily="34" charset="0"/>
              </a:rPr>
              <a:t>• Doel: revisioned matchregels met een echte applicatiesleutel</a:t>
            </a:r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FD1E3-B9DF-1388-7687-240038AAEB4B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12/15</a:t>
            </a:r>
          </a:p>
        </p:txBody>
      </p:sp>
    </p:spTree>
    <p:extLst>
      <p:ext uri="{BB962C8B-B14F-4D97-AF65-F5344CB8AC3E}">
        <p14:creationId xmlns:p14="http://schemas.microsoft.com/office/powerpoint/2010/main" val="3810647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11F3CC-D3F7-EC29-10B4-BBCA027722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12222-BB39-37A0-338E-ADF079622AF1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Errors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1F9EC-45F9-D847-52BB-4B8FAEBB3730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7DDB7-CC1B-0647-58FE-4745DD65D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B17489-55E2-8F03-E864-D87B72EB38EC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64226-007D-868C-4D11-19C22D71A7ED}"/>
              </a:ext>
            </a:extLst>
          </p:cNvPr>
          <p:cNvSpPr txBox="1"/>
          <p:nvPr/>
        </p:nvSpPr>
        <p:spPr>
          <a:xfrm>
            <a:off x="8966200" y="1371600"/>
            <a:ext cx="2794000" cy="48218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Errors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97252-C868-315F-2651-9FDCA8EC50A5}"/>
              </a:ext>
            </a:extLst>
          </p:cNvPr>
          <p:cNvSpPr txBox="1"/>
          <p:nvPr/>
        </p:nvSpPr>
        <p:spPr>
          <a:xfrm>
            <a:off x="8966200" y="2349500"/>
            <a:ext cx="2794000" cy="228267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Inzage in technische agentfouten en context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Legacy bewaart veel foutinformatie maar redactie is niet overal uniform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Doel: structured logging, correlation IDs, privacyredactie en OpenTelemetry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37ABB-BBC4-AE0A-2E75-ED743CBE49F6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13/15</a:t>
            </a:r>
          </a:p>
        </p:txBody>
      </p:sp>
    </p:spTree>
    <p:extLst>
      <p:ext uri="{BB962C8B-B14F-4D97-AF65-F5344CB8AC3E}">
        <p14:creationId xmlns:p14="http://schemas.microsoft.com/office/powerpoint/2010/main" val="3236400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D7B551-072A-7B62-F385-6A3E4ADA88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1A53B-C03C-9EDB-5F7A-42B73AB078D5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Segoe UI" panose="020B0502040204020203" pitchFamily="34" charset="0"/>
              </a:rPr>
              <a:t>Audit Log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F28FAA-28ED-A211-686F-B4BFC457635B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060162-395B-F507-AFA9-ADA9A2E2B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1900"/>
            <a:ext cx="8128000" cy="4572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FCFFF0-187F-F9FF-A915-781D5A8FE8BE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9CBA77-93B3-FD33-EB0C-A7961504B4C3}"/>
              </a:ext>
            </a:extLst>
          </p:cNvPr>
          <p:cNvSpPr txBox="1"/>
          <p:nvPr/>
        </p:nvSpPr>
        <p:spPr>
          <a:xfrm>
            <a:off x="8966200" y="1371600"/>
            <a:ext cx="2794000" cy="482183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2300" b="1">
                <a:solidFill>
                  <a:srgbClr val="F8FAFC"/>
                </a:solidFill>
                <a:latin typeface="Segoe UI" panose="020B0502040204020203" pitchFamily="34" charset="0"/>
              </a:rPr>
              <a:t>Audit Log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B5AF7D-E577-C55E-19F8-9E219705F1D7}"/>
              </a:ext>
            </a:extLst>
          </p:cNvPr>
          <p:cNvSpPr txBox="1"/>
          <p:nvPr/>
        </p:nvSpPr>
        <p:spPr>
          <a:xfrm>
            <a:off x="8966200" y="2349500"/>
            <a:ext cx="2794000" cy="228267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Beheerwijzigingen worden als polymorfe audit vastgelegd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TableName plus RecordID kan geen referential integrity afdwingen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Doel: immutable audit events via één geautoriseerde control-plane API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6AD11-47D6-8688-9B4D-E8C2450E6326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14/15</a:t>
            </a:r>
          </a:p>
        </p:txBody>
      </p:sp>
    </p:spTree>
    <p:extLst>
      <p:ext uri="{BB962C8B-B14F-4D97-AF65-F5344CB8AC3E}">
        <p14:creationId xmlns:p14="http://schemas.microsoft.com/office/powerpoint/2010/main" val="1318975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/>
    </mc:Choice>
    <mc:Fallback>
      <p:transition spd="slow" advClick="0" advTm="7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66390-3CE7-7F8F-C664-92EB5C00E0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EB197A-3A67-2B25-1328-B51CC3512CFF}"/>
              </a:ext>
            </a:extLst>
          </p:cNvPr>
          <p:cNvSpPr txBox="1"/>
          <p:nvPr/>
        </p:nvSpPr>
        <p:spPr>
          <a:xfrm>
            <a:off x="304800" y="190500"/>
            <a:ext cx="11557000" cy="55912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2800" b="1">
                <a:solidFill>
                  <a:srgbClr val="F8FAFC"/>
                </a:solidFill>
                <a:latin typeface="Segoe UI" panose="020B0502040204020203" pitchFamily="34" charset="0"/>
              </a:rPr>
              <a:t>Van IST naar C# doelarchitectuur</a:t>
            </a:r>
            <a:endParaRPr lang="en-US" sz="28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078FBF-32E6-9162-20FD-854723F70E56}"/>
              </a:ext>
            </a:extLst>
          </p:cNvPr>
          <p:cNvSpPr/>
          <p:nvPr/>
        </p:nvSpPr>
        <p:spPr>
          <a:xfrm>
            <a:off x="304800" y="914400"/>
            <a:ext cx="11582400" cy="508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66DBA-B9C6-017E-78CB-3663B4151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168400"/>
            <a:ext cx="7620000" cy="4699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25629A-1A3F-E94D-DB44-2256EA17D61A}"/>
              </a:ext>
            </a:extLst>
          </p:cNvPr>
          <p:cNvSpPr/>
          <p:nvPr/>
        </p:nvSpPr>
        <p:spPr>
          <a:xfrm>
            <a:off x="8763000" y="1168400"/>
            <a:ext cx="3175000" cy="4699000"/>
          </a:xfrm>
          <a:prstGeom prst="roundRect">
            <a:avLst/>
          </a:prstGeom>
          <a:solidFill>
            <a:srgbClr val="0F172A">
              <a:alpha val="96000"/>
            </a:srgbClr>
          </a:solidFill>
          <a:ln w="15875"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20B437-D329-369D-9D94-D25924CD137E}"/>
              </a:ext>
            </a:extLst>
          </p:cNvPr>
          <p:cNvSpPr txBox="1"/>
          <p:nvPr/>
        </p:nvSpPr>
        <p:spPr>
          <a:xfrm>
            <a:off x="8966200" y="1371600"/>
            <a:ext cx="2794000" cy="836126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nl-NL" sz="2300" b="1">
                <a:solidFill>
                  <a:srgbClr val="F8FAFC"/>
                </a:solidFill>
                <a:latin typeface="Segoe UI" panose="020B0502040204020203" pitchFamily="34" charset="0"/>
              </a:rPr>
              <a:t>Van IST naar C# doelarchitectuur</a:t>
            </a:r>
            <a:endParaRPr lang="en-US" sz="2300" b="1">
              <a:solidFill>
                <a:srgbClr val="F8FAFC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96F6C-3E1F-6193-5F46-D4F1CF4680B8}"/>
              </a:ext>
            </a:extLst>
          </p:cNvPr>
          <p:cNvSpPr txBox="1"/>
          <p:nvPr/>
        </p:nvSpPr>
        <p:spPr>
          <a:xfrm>
            <a:off x="8966200" y="2349500"/>
            <a:ext cx="2794000" cy="2498120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Kleine bootstrapper en .NET Worker Service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SQLite transactional outbox en geïsoleerde taskpackages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HTTPS ingestion API, duurzame queue en PostgreSQL</a:t>
            </a:r>
          </a:p>
          <a:p>
            <a:endParaRPr lang="en-US" sz="1400">
              <a:solidFill>
                <a:srgbClr val="E2E8F0"/>
              </a:solidFill>
              <a:latin typeface="Segoe UI" panose="020B0502040204020203" pitchFamily="34" charset="0"/>
            </a:endParaRPr>
          </a:p>
          <a:p>
            <a:r>
              <a:rPr lang="en-US" sz="1400">
                <a:solidFill>
                  <a:srgbClr val="E2E8F0"/>
                </a:solidFill>
                <a:latin typeface="Segoe UI" panose="020B0502040204020203" pitchFamily="34" charset="0"/>
              </a:rPr>
              <a:t>• Modern beheerportaal met typed policies, RBAC en audit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4C541A-78A0-1522-5DB8-7C7AD68996A6}"/>
              </a:ext>
            </a:extLst>
          </p:cNvPr>
          <p:cNvSpPr txBox="1"/>
          <p:nvPr/>
        </p:nvSpPr>
        <p:spPr>
          <a:xfrm>
            <a:off x="304800" y="6159500"/>
            <a:ext cx="11582400" cy="297517"/>
          </a:xfrm>
          <a:prstGeom prst="rect">
            <a:avLst/>
          </a:prstGeom>
          <a:noFill/>
        </p:spPr>
        <p:txBody>
          <a:bodyPr vert="horz" lIns="101600" tIns="63500" rIns="101600" bIns="63500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Segoe UI" panose="020B0502040204020203" pitchFamily="34" charset="0"/>
              </a:rPr>
              <a:t>UAM overdracht • DEV • read-only • privacygemaskeerd • scherm 15/15</a:t>
            </a:r>
          </a:p>
        </p:txBody>
      </p:sp>
    </p:spTree>
    <p:extLst>
      <p:ext uri="{BB962C8B-B14F-4D97-AF65-F5344CB8AC3E}">
        <p14:creationId xmlns:p14="http://schemas.microsoft.com/office/powerpoint/2010/main" val="431106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0000"/>
    </mc:Choice>
    <mc:Fallback>
      <p:transition spd="slow" advClick="0" advTm="10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665</Words>
  <Application>Microsoft Office PowerPoint</Application>
  <PresentationFormat>Custom</PresentationFormat>
  <Paragraphs>126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van Nederpelt</dc:creator>
  <cp:lastModifiedBy>Patrick van Nederpelt</cp:lastModifiedBy>
  <cp:revision>1</cp:revision>
  <dcterms:created xsi:type="dcterms:W3CDTF">2026-07-23T22:00:27Z</dcterms:created>
  <dcterms:modified xsi:type="dcterms:W3CDTF">2026-07-23T22:00:27Z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3a3144c-e58f-4c7e-97e0-07a7a54e7b35_Enabled">
    <vt:lpwstr>true</vt:lpwstr>
  </property>
  <property fmtid="{D5CDD505-2E9C-101B-9397-08002B2CF9AE}" pid="3" name="MSIP_Label_b3a3144c-e58f-4c7e-97e0-07a7a54e7b35_SetDate">
    <vt:lpwstr>2026-07-23T22:00:27Z</vt:lpwstr>
  </property>
  <property fmtid="{D5CDD505-2E9C-101B-9397-08002B2CF9AE}" pid="4" name="MSIP_Label_b3a3144c-e58f-4c7e-97e0-07a7a54e7b35_Method">
    <vt:lpwstr>Standard</vt:lpwstr>
  </property>
  <property fmtid="{D5CDD505-2E9C-101B-9397-08002B2CF9AE}" pid="5" name="MSIP_Label_b3a3144c-e58f-4c7e-97e0-07a7a54e7b35_Name">
    <vt:lpwstr>Intern</vt:lpwstr>
  </property>
  <property fmtid="{D5CDD505-2E9C-101B-9397-08002B2CF9AE}" pid="6" name="MSIP_Label_b3a3144c-e58f-4c7e-97e0-07a7a54e7b35_SiteId">
    <vt:lpwstr>8c3b61fd-94af-4533-8307-eb59dbd860b0</vt:lpwstr>
  </property>
  <property fmtid="{D5CDD505-2E9C-101B-9397-08002B2CF9AE}" pid="7" name="MSIP_Label_b3a3144c-e58f-4c7e-97e0-07a7a54e7b35_ActionId">
    <vt:lpwstr>0914343f-91a4-4ffa-9a87-cfcc71a1d5f1</vt:lpwstr>
  </property>
  <property fmtid="{D5CDD505-2E9C-101B-9397-08002B2CF9AE}" pid="8" name="MSIP_Label_b3a3144c-e58f-4c7e-97e0-07a7a54e7b35_ContentBits">
    <vt:lpwstr>0</vt:lpwstr>
  </property>
  <property fmtid="{D5CDD505-2E9C-101B-9397-08002B2CF9AE}" pid="9" name="MSIP_Label_b3a3144c-e58f-4c7e-97e0-07a7a54e7b35_Tag">
    <vt:lpwstr>10, 3, 0, 1</vt:lpwstr>
  </property>
</Properties>
</file>